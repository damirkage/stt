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280160"/>
            <a:ext cx="3840480" cy="384048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663440"/>
            <a:ext cx="2377440" cy="237744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19659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ТЕХНИЧЕСКОЕ ПРЕДЛОЖЕНИЕ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33172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54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54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520440"/>
            <a:ext cx="8686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 платформы разметки данных: буфер слов, точная</a:t>
            </a:r>
            <a:endParaRPr lang="en-US" sz="1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80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настройка плеера, аналитика для менеджеров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822960" y="498348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 + план реализации на Prodigy · подготовлено командой разметки данных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6080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github.com/DamirKage/STT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Почему это важно сейчас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25146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640080" y="27432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2 492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 проекте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ASTER_KZ_310826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429000" y="2514600"/>
            <a:ext cx="2514600" cy="1920240"/>
          </a:xfrm>
          <a:prstGeom prst="roundRect">
            <a:avLst>
              <a:gd name="adj" fmla="val 476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29000" y="2743200"/>
            <a:ext cx="2514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4 454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3566160" y="3611880"/>
            <a:ext cx="2240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задачи в проекте</a:t>
            </a:r>
            <a:endParaRPr lang="en-US" sz="12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AI_ABC_CHAT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492240" y="2514600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92240" y="25146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4871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UI Prodigy закрыт для правок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7040880" y="282549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Экран разметки — собранный Svelte-компонент, исходники недоступны для редактирования.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92240" y="3474720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92240" y="3474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7040880" y="344728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Расширение упирается в потолок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7040880" y="378561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Каждая новая фича требует всё более сложных обходных путей вокруг закрытого интерфейса.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492240" y="4434840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92240" y="443484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7040880" y="440740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Разработчики сами предложили обсудить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7040880" y="474573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Эдуард: «можем обсудить вариант по его постепенному замещению на своё решение».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ИЗ ПЕРЕПИСКИ С ЭДУАРДОМ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уже согласовано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11096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 слов</a:t>
            </a:r>
            <a:endParaRPr lang="en-US" sz="15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5856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Сохраняется по каждому проекту, переживает перезагрузку страницы.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9738360" y="2130552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38360" y="213055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40080" y="2916936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1508760" y="3044952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Точная настройка плеера</a:t>
            </a:r>
            <a:endParaRPr lang="en-US" sz="1550" dirty="0"/>
          </a:p>
        </p:txBody>
      </p:sp>
      <p:sp>
        <p:nvSpPr>
          <p:cNvPr id="15" name="Text 13"/>
          <p:cNvSpPr txBox="1"/>
          <p:nvPr/>
        </p:nvSpPr>
        <p:spPr>
          <a:xfrm>
            <a:off x="1508760" y="339242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Шаг 1% для громкости/скорости, переключатель общий/для клипа, повтор в 3 состояниях.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738360" y="3264408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738360" y="3264408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40080" y="4050792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68680" y="4352544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6868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 txBox="1"/>
          <p:nvPr/>
        </p:nvSpPr>
        <p:spPr>
          <a:xfrm>
            <a:off x="1508760" y="4178808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 для менеджеров</a:t>
            </a:r>
            <a:endParaRPr lang="en-US" sz="155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45262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Блоки WER/CER, можно двигать и скрывать. Остальные метрики — отдельным разговором позже.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9738360" y="43982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738360" y="4398264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Обсуждаем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40080" y="5184648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68680" y="5486400"/>
            <a:ext cx="384048" cy="384048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686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1508760" y="5312664"/>
            <a:ext cx="6949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WER/CER по проекту</a:t>
            </a:r>
            <a:endParaRPr lang="en-US" sz="1550" dirty="0"/>
          </a:p>
        </p:txBody>
      </p:sp>
      <p:sp>
        <p:nvSpPr>
          <p:cNvPr id="29" name="Text 27"/>
          <p:cNvSpPr txBox="1"/>
          <p:nvPr/>
        </p:nvSpPr>
        <p:spPr>
          <a:xfrm>
            <a:off x="1508760" y="5660136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Автоматический расчёт внизу таблицы — без ручного подсчёта.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9738360" y="5532120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22C55E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9738360" y="5532120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работе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315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Уже работает, не просто макет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724912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868680" y="2606040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слов сохраняется отдельно по проекту (localStorage)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" y="3346704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68680" y="3227832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Ползунки громкости/скорости — шаг 1%, режим общий/для клипа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968496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68680" y="3849624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Повтор ↻ в 3 состояниях: выкл → клип → все аудио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40080" y="4590288"/>
            <a:ext cx="82296" cy="8229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4471416"/>
            <a:ext cx="5212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D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Тема оформления: светлая / тёмная / розовая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733288" y="1504982"/>
            <a:ext cx="6135624" cy="3848037"/>
          </a:xfrm>
          <a:prstGeom prst="roundRect">
            <a:avLst>
              <a:gd name="adj" fmla="val 1426"/>
            </a:avLst>
          </a:prstGeom>
          <a:solidFill>
            <a:srgbClr val="0D1017"/>
          </a:solidFill>
          <a:ln/>
          <a:effectLst>
            <a:outerShdw sx="100000" sy="100000" kx="0" ky="0" algn="bl" rotWithShape="0" blurRad="177800" dist="50800" dir="5400000">
              <a:srgbClr val="000000">
                <a:alpha val="50000"/>
              </a:srgbClr>
            </a:outerShdw>
          </a:effectLst>
        </p:spPr>
      </p:sp>
      <p:pic>
        <p:nvPicPr>
          <p:cNvPr id="13" name="Image 0" descr="shot-marku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578134"/>
            <a:ext cx="5989320" cy="3701733"/>
          </a:xfrm>
          <a:prstGeom prst="rect">
            <a:avLst/>
          </a:prstGeom>
        </p:spPr>
      </p:pic>
      <p:sp>
        <p:nvSpPr>
          <p:cNvPr id="14" name="Text 11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ПРОТОТИП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Аналитика: WER/CER и время работы по дням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66928" y="1463040"/>
            <a:ext cx="4114800" cy="2606040"/>
          </a:xfrm>
          <a:prstGeom prst="roundRect">
            <a:avLst>
              <a:gd name="adj" fmla="val 1754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1C2333">
                <a:alpha val="15000"/>
              </a:srgbClr>
            </a:outerShdw>
          </a:effectLst>
        </p:spPr>
      </p:sp>
      <p:pic>
        <p:nvPicPr>
          <p:cNvPr id="5" name="Image 0" descr="shot-analytic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" y="1508760"/>
            <a:ext cx="4023360" cy="25146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160520"/>
            <a:ext cx="4114800" cy="1927274"/>
          </a:xfrm>
          <a:prstGeom prst="roundRect">
            <a:avLst>
              <a:gd name="adj" fmla="val 2372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101600" dist="25400" dir="5400000">
              <a:srgbClr val="1C2333">
                <a:alpha val="15000"/>
              </a:srgbClr>
            </a:outerShdw>
          </a:effectLst>
        </p:spPr>
      </p:sp>
      <p:pic>
        <p:nvPicPr>
          <p:cNvPr id="7" name="Image 1" descr="shot-analytics-dail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4206240"/>
            <a:ext cx="4023360" cy="1835834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5166360" y="160020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Что нового в этом экране</a:t>
            </a:r>
            <a:endParaRPr lang="en-US" sz="1800" dirty="0"/>
          </a:p>
        </p:txBody>
      </p:sp>
      <p:sp>
        <p:nvSpPr>
          <p:cNvPr id="9" name="Shape 5"/>
          <p:cNvSpPr/>
          <p:nvPr/>
        </p:nvSpPr>
        <p:spPr>
          <a:xfrm>
            <a:off x="5166360" y="2331720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5166360" y="2331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11" name="Text 7"/>
          <p:cNvSpPr txBox="1"/>
          <p:nvPr/>
        </p:nvSpPr>
        <p:spPr>
          <a:xfrm>
            <a:off x="5696712" y="22951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Аналитика привязана к проекту</a:t>
            </a:r>
            <a:endParaRPr lang="en-US" sz="1450" dirty="0"/>
          </a:p>
        </p:txBody>
      </p:sp>
      <p:sp>
        <p:nvSpPr>
          <p:cNvPr id="12" name="Text 8"/>
          <p:cNvSpPr txBox="1"/>
          <p:nvPr/>
        </p:nvSpPr>
        <p:spPr>
          <a:xfrm>
            <a:off x="5696712" y="2660904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открывается из конкретного проекта, переключатель сверху — посмотреть другой, не выходя из экрана.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166360" y="3410712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5166360" y="341071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1"/>
          <p:cNvSpPr txBox="1"/>
          <p:nvPr/>
        </p:nvSpPr>
        <p:spPr>
          <a:xfrm>
            <a:off x="5696712" y="337413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Настройка блоков дашборда</a:t>
            </a:r>
            <a:endParaRPr lang="en-US" sz="1450" dirty="0"/>
          </a:p>
        </p:txBody>
      </p:sp>
      <p:sp>
        <p:nvSpPr>
          <p:cNvPr id="16" name="Text 12"/>
          <p:cNvSpPr txBox="1"/>
          <p:nvPr/>
        </p:nvSpPr>
        <p:spPr>
          <a:xfrm>
            <a:off x="5696712" y="3739896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«Настроить блоки» — показать/скрыть, порядок сохраняется.</a:t>
            </a:r>
            <a:endParaRPr lang="en-US" sz="1150" dirty="0"/>
          </a:p>
        </p:txBody>
      </p:sp>
      <p:sp>
        <p:nvSpPr>
          <p:cNvPr id="17" name="Shape 13"/>
          <p:cNvSpPr/>
          <p:nvPr/>
        </p:nvSpPr>
        <p:spPr>
          <a:xfrm>
            <a:off x="5166360" y="4489704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5166360" y="448970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5"/>
          <p:cNvSpPr txBox="1"/>
          <p:nvPr/>
        </p:nvSpPr>
        <p:spPr>
          <a:xfrm>
            <a:off x="5696712" y="445312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Начало/окончание вместо WER/CER по дням</a:t>
            </a:r>
            <a:endParaRPr lang="en-US" sz="1450" dirty="0"/>
          </a:p>
        </p:txBody>
      </p:sp>
      <p:sp>
        <p:nvSpPr>
          <p:cNvPr id="20" name="Text 16"/>
          <p:cNvSpPr txBox="1"/>
          <p:nvPr/>
        </p:nvSpPr>
        <p:spPr>
          <a:xfrm>
            <a:off x="5696712" y="4818888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внизу видно, во сколько разметчик начал и закончил работу за день.</a:t>
            </a:r>
            <a:endParaRPr lang="en-US" sz="1150" dirty="0"/>
          </a:p>
        </p:txBody>
      </p:sp>
      <p:sp>
        <p:nvSpPr>
          <p:cNvPr id="21" name="Shape 17"/>
          <p:cNvSpPr/>
          <p:nvPr/>
        </p:nvSpPr>
        <p:spPr>
          <a:xfrm>
            <a:off x="5166360" y="5568696"/>
            <a:ext cx="365760" cy="36576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5166360" y="55686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3" name="Text 19"/>
          <p:cNvSpPr txBox="1"/>
          <p:nvPr/>
        </p:nvSpPr>
        <p:spPr>
          <a:xfrm>
            <a:off x="5696712" y="55321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Средний WER/CER — готовая цифра</a:t>
            </a:r>
            <a:endParaRPr lang="en-US" sz="1450" dirty="0"/>
          </a:p>
        </p:txBody>
      </p:sp>
      <p:sp>
        <p:nvSpPr>
          <p:cNvPr id="24" name="Text 20"/>
          <p:cNvSpPr txBox="1"/>
          <p:nvPr/>
        </p:nvSpPr>
        <p:spPr>
          <a:xfrm>
            <a:off x="5696712" y="5897880"/>
            <a:ext cx="57607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нужно считать вручную по каждому сотруднику.</a:t>
            </a:r>
            <a:endParaRPr lang="en-US" sz="1150" dirty="0"/>
          </a:p>
        </p:txBody>
      </p:sp>
      <p:sp>
        <p:nvSpPr>
          <p:cNvPr id="25" name="Text 21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6" name="Text 22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ЭТО УСТРОЕНО ТЕХНИЧЕСКИ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49808"/>
            <a:ext cx="10789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Фронтенд и бэкенд — и где именно Prodigy закрыт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36576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БРАУЗЕР — наш JS/CSS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868680" y="2377440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ECEEF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51560" y="237744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static/buffer.js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868680" y="2944368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ECEEF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051560" y="2944368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static/player.js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68680" y="3511296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EC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051560" y="3511296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static/theme.js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68680" y="4078224"/>
            <a:ext cx="3200400" cy="438912"/>
          </a:xfrm>
          <a:prstGeom prst="roundRect">
            <a:avLst>
              <a:gd name="adj" fmla="val 12500"/>
            </a:avLst>
          </a:prstGeom>
          <a:solidFill>
            <a:srgbClr val="ECEEF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051560" y="4078224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C23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static/style.css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26280" y="2926080"/>
            <a:ext cx="1417320" cy="777240"/>
          </a:xfrm>
          <a:prstGeom prst="roundRect">
            <a:avLst>
              <a:gd name="adj" fmla="val 9412"/>
            </a:avLst>
          </a:prstGeom>
          <a:solidFill>
            <a:srgbClr val="F146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526280" y="2926080"/>
            <a:ext cx="1417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"javascript"</a:t>
            </a:r>
            <a:endParaRPr lang="en-US" sz="10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"global_css"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4434840" y="379476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официальный хук</a:t>
            </a:r>
            <a:endParaRPr lang="en-US" sz="9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9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Prodigy-конфига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297680" y="329184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5943600" y="3291840"/>
            <a:ext cx="228600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309360" y="1691640"/>
            <a:ext cx="2880360" cy="3200400"/>
          </a:xfrm>
          <a:prstGeom prst="roundRect">
            <a:avLst>
              <a:gd name="adj" fmla="val 2540"/>
            </a:avLst>
          </a:prstGeom>
          <a:solidFill>
            <a:srgbClr val="1C2333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537960" y="18745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PRODIGY — закрытый UI</a:t>
            </a:r>
            <a:endParaRPr lang="en-US" sz="1300" dirty="0"/>
          </a:p>
        </p:txBody>
      </p:sp>
      <p:sp>
        <p:nvSpPr>
          <p:cNvPr id="21" name="Text 19"/>
          <p:cNvSpPr txBox="1"/>
          <p:nvPr/>
        </p:nvSpPr>
        <p:spPr>
          <a:xfrm>
            <a:off x="6537960" y="2331720"/>
            <a:ext cx="246888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Скомпилированный Svelte,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исходники недоступны.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Внутри — обычный HTML5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&lt;audio&gt;, которым можно</a:t>
            </a:r>
            <a:endParaRPr lang="en-US" sz="11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управлять снаружи.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537960" y="4114800"/>
            <a:ext cx="2468880" cy="548640"/>
          </a:xfrm>
          <a:prstGeom prst="roundRect">
            <a:avLst>
              <a:gd name="adj" fmla="val 10000"/>
            </a:avLst>
          </a:prstGeom>
          <a:solidFill>
            <a:srgbClr val="2D3540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6537960" y="4114800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recipes/audio_markup.py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4040" y="1691640"/>
            <a:ext cx="2057400" cy="32004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14635"/>
            </a:solidFill>
            <a:prstDash val="dash"/>
          </a:ln>
        </p:spPr>
      </p:sp>
      <p:sp>
        <p:nvSpPr>
          <p:cNvPr id="25" name="Text 23"/>
          <p:cNvSpPr txBox="1"/>
          <p:nvPr/>
        </p:nvSpPr>
        <p:spPr>
          <a:xfrm>
            <a:off x="9601200" y="1874520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+ 1 НОВЫЙ СЕРВИС</a:t>
            </a:r>
            <a:endParaRPr lang="en-US" sz="1200" dirty="0"/>
          </a:p>
        </p:txBody>
      </p:sp>
      <p:sp>
        <p:nvSpPr>
          <p:cNvPr id="26" name="Text 24"/>
          <p:cNvSpPr txBox="1"/>
          <p:nvPr/>
        </p:nvSpPr>
        <p:spPr>
          <a:xfrm>
            <a:off x="9601200" y="2468880"/>
            <a:ext cx="1783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dashboard/app.py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(FastAPI, read-only)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+ 1 таблица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MarkupSession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трогает Prodigy</a:t>
            </a:r>
            <a:endParaRPr lang="en-US" sz="10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0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его лицензию</a:t>
            </a:r>
            <a:endParaRPr lang="en-US" sz="1000" dirty="0"/>
          </a:p>
        </p:txBody>
      </p:sp>
      <p:sp>
        <p:nvSpPr>
          <p:cNvPr id="27" name="Text 25"/>
          <p:cNvSpPr txBox="1"/>
          <p:nvPr/>
        </p:nvSpPr>
        <p:spPr>
          <a:xfrm>
            <a:off x="640080" y="5120640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Три базы данных, которые легко перепутать: (1) БД самого Prodigy — уже есть, хранит датасеты и ответы · (2) БД авторизации Kaspi — уже есть, вне периметра этого проекта · (3) MarkupSession — единственная новая таблица, для «начало/конец дня».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СЛОВ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21792" y="73152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Буфер, который не забывает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Разметчик 2 492 раза открывает новый файл в одном только проекте — и печатает заново одни и те же слова, потому что после перезагрузки буфер пуст.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86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ЖИЗНЕННО НЕОБХОДИМО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Секунды набора умножаются на количество задач. Каждая напечатанная руками копия — лишний шанс опечатки, то есть рост WER/CER в данных, которые идут на обучение модели.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57276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— стандартный localStorage браузера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74520"/>
            <a:ext cx="5806440" cy="3977640"/>
          </a:xfrm>
          <a:prstGeom prst="roundRect">
            <a:avLst>
              <a:gd name="adj" fmla="val 183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89320" y="198424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static/buffer.js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258568"/>
            <a:ext cx="5349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datasetKey()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if (window.prodigy?.dataset)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"kmu_buf_" + window.prodigy.dataset;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return "kmu_buf_default";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свой буфер на каждый проект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saveSnips(snips)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localStorage.setItem(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datasetKey(), JSON.stringify(snips)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59436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Подключается через "javascript"-хук конфига рецепта Prodigy (см. слайд 10). Бэкенд и БД Prodigy не трогаются вообще.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ТОЧНАЯ НАСТРОЙКА ПЛЕЕРА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21792" y="73152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Шаг 1%, а не 10%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Ползунок с шагом 10% — это 10 позиций на весь диапазон. Для разбора тихой или смазанной речи этого не хватает: человек либо не долавливает слово, либо переигрывает один и тот же кусок по несколько раз.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86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ЖИЗНЕННО НЕОБХОДИМО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Точность прослушивания напрямую определяет точность транскрипции — а значит и WER/CER, на которых потом учится модель. Грубый контроль — это погрешность, заложенная на входе в весь пайплайн данных.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57276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— обычный HTML5 &lt;audio&gt; под виджетом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74520"/>
            <a:ext cx="5806440" cy="3977640"/>
          </a:xfrm>
          <a:prstGeom prst="roundRect">
            <a:avLst>
              <a:gd name="adj" fmla="val 183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89320" y="198424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static/player.js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258568"/>
            <a:ext cx="5349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function applyToAudio(audio, vol, spd)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audio.volume =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Math.max(0, Math.min(1, vol / 100));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audio.playbackRate = spd / 100;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audio.loop = repState &gt; 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// выкл → клип → все аудио → выкл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repBtn.addEventListener("click", () =&gt; {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repState = (repState + 1) % 3;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findAudioEl().loop = repState &gt; 0;</a:t>
            </a:r>
            <a:endParaRPr lang="en-US" sz="13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3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});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59436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Виджет Prodigy закрыт (Svelte), но рендерит обычный &lt;audio&gt; — им управляет любой скрипт на странице через штатное JS API.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ДЛЯ МЕНЕДЖЕРОВ</a:t>
            </a:r>
            <a:endParaRPr lang="en-US" sz="1100" dirty="0"/>
          </a:p>
        </p:txBody>
      </p:sp>
      <p:sp>
        <p:nvSpPr>
          <p:cNvPr id="3" name="Shape 1"/>
          <p:cNvSpPr/>
          <p:nvPr/>
        </p:nvSpPr>
        <p:spPr>
          <a:xfrm>
            <a:off x="621792" y="73152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21792" y="731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713232"/>
            <a:ext cx="9875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Среднее по проекту — без Excel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48920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73736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057400"/>
            <a:ext cx="4434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WER/CER уже считается — ассессоры видят его по каждому сотруднику. Но средний показатель по проекту менеджер выводит вручную: складывает и делит цифры сам.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3703320"/>
            <a:ext cx="4892040" cy="2331720"/>
          </a:xfrm>
          <a:prstGeom prst="roundRect">
            <a:avLst>
              <a:gd name="adj" fmla="val 3137"/>
            </a:avLst>
          </a:prstGeom>
          <a:solidFill>
            <a:srgbClr val="1C2333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68680" y="3886200"/>
            <a:ext cx="4434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4ADE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ПОЧЕМУ ЖИЗНЕННО НЕОБХОДИМО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868680" y="4206240"/>
            <a:ext cx="44348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Ручной подсчёт — это не просто трата времени, это задержка в обнаружении проблемы: пока кто-то не сведёт цифры руками, просадка качества по проекту не видна никому.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760720" y="1572768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— маленький read-only сервис рядом с Prodigy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874520"/>
            <a:ext cx="5806440" cy="3977640"/>
          </a:xfrm>
          <a:prstGeom prst="roundRect">
            <a:avLst>
              <a:gd name="adj" fmla="val 183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5989320" y="1984248"/>
            <a:ext cx="5349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dashboard/app.py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5989320" y="2258568"/>
            <a:ext cx="5349240" cy="342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@app.get("/api/projects/{project_id}/summary")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project_summary(project_id: str):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tasks = MarkupSession.select().where(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MarkupSession.project_id == project_id)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sum(r.tasks_count for r in tasks)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wc = _project_wer_cer(project_id)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ProjectSummary(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project_id=project_id,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tasks_count=total, wer=wc.wer, cer=wc.cer,</a:t>
            </a:r>
            <a:endParaRPr lang="en-US" sz="12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760720" y="5943600"/>
            <a:ext cx="5806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Честно: здесь WER/CER считается через jiwer как самодостаточная демо-заглушка — реальная интеграция должна читать уже готовые цифры из пайплайна Kaspi.</a:t>
            </a:r>
            <a:endParaRPr lang="en-US" sz="1050" dirty="0"/>
          </a:p>
        </p:txBody>
      </p:sp>
      <p:sp>
        <p:nvSpPr>
          <p:cNvPr id="17" name="Text 15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871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ВСЁ ВМЕСТЕ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Это всё, что нужно добавить к рецепту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37160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95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recipes/audio_markup.py — конфиг существующего Prodigy-рецепта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280160" y="1920240"/>
            <a:ext cx="9601200" cy="2514600"/>
          </a:xfrm>
          <a:prstGeom prst="roundRect">
            <a:avLst>
              <a:gd name="adj" fmla="val 2909"/>
            </a:avLst>
          </a:prstGeom>
          <a:solidFill>
            <a:srgbClr val="161B22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1508760" y="2029968"/>
            <a:ext cx="9144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B949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recipes/audio_markup.py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304288"/>
            <a:ext cx="914400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"config": {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"blocks": blocks,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"global_css": _read_static("style.css"),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"javascript": _read_static("i18n.js",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"theme.js", "buffer.js", "player.js"),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"keymap": {"accept": ["f"], "reject": ["j"],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"ignore": ["enter"]},</a:t>
            </a:r>
            <a:endParaRPr lang="en-US" sz="1500" dirty="0"/>
          </a:p>
          <a:p>
            <a:pPr indent="0" marL="0">
              <a:lnSpc>
                <a:spcPct val="118000"/>
              </a:lnSpc>
              <a:buNone/>
            </a:pPr>
            <a:r>
              <a:rPr lang="en-US" sz="15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},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1280160" y="4974336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536192" y="48463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Ни одна строчка в самом Prodigy не меняется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1280160" y="5413248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1536192" y="5285232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Лицензия и бэкенд-хранилище Prodigy не трогаются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1280160" y="5852160"/>
            <a:ext cx="91440" cy="91440"/>
          </a:xfrm>
          <a:prstGeom prst="ellipse">
            <a:avLst/>
          </a:prstGeom>
          <a:solidFill>
            <a:srgbClr val="4ADE80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536192" y="5724144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Единственный новый элемент инфраструктуры — сервис дашборда со слайда 9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ЧЕСТНО, А НЕ ТОЛЬКО «КАК ЗДОРОВО»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Открытые вопросы к разработчикам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68680" y="2084832"/>
            <a:ext cx="384048" cy="384048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68680" y="20848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911096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Где физически хранить MarkupSession?</a:t>
            </a:r>
            <a:endParaRPr lang="en-US" sz="1450" dirty="0"/>
          </a:p>
        </p:txBody>
      </p:sp>
      <p:sp>
        <p:nvSpPr>
          <p:cNvPr id="8" name="Text 6"/>
          <p:cNvSpPr txBox="1"/>
          <p:nvPr/>
        </p:nvSpPr>
        <p:spPr>
          <a:xfrm>
            <a:off x="1508760" y="2258568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той же базе, что уже использует Prodigy, или отдельно — вопрос к вашей инфраструктуре, не наше решение.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916936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68680" y="3218688"/>
            <a:ext cx="384048" cy="384048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321868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1508760" y="3044952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Откуда сейчас берутся реальные WER/CER?</a:t>
            </a:r>
            <a:endParaRPr lang="en-US" sz="1450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392424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Ассессоры их уже видят по сотрудникам — значит, пайплайн расчёта уже есть. Дашборду нужно читать из него, а не считать заново.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4050792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68680" y="4352544"/>
            <a:ext cx="384048" cy="384048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68680" y="4352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1508760" y="4178808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Используете ли встроенный recipe `review`?</a:t>
            </a:r>
            <a:endParaRPr lang="en-US" sz="1450" dirty="0"/>
          </a:p>
        </p:txBody>
      </p:sp>
      <p:sp>
        <p:nvSpPr>
          <p:cNvPr id="18" name="Text 16"/>
          <p:cNvSpPr txBox="1"/>
          <p:nvPr/>
        </p:nvSpPr>
        <p:spPr>
          <a:xfrm>
            <a:off x="1508760" y="4526280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разметки двух менеджеров ассессором — это штатный сценарий Prodigy, а не то, что нужно писать с нуля.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184648"/>
            <a:ext cx="10881360" cy="987552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68680" y="5486400"/>
            <a:ext cx="384048" cy="384048"/>
          </a:xfrm>
          <a:prstGeom prst="ellipse">
            <a:avLst/>
          </a:prstGeom>
          <a:solidFill>
            <a:srgbClr val="1C2333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686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508760" y="5312664"/>
            <a:ext cx="9692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Патчите исходники Prodigy или только config-хуки?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1508760" y="5660136"/>
            <a:ext cx="9692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Если правите исходники напрямую — это уже отклонение от стандартной модели использования, и его стоит обсудить отдельно.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CEEF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ПОЭТАПНО, НЕ ВСЁ СРАЗУ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77724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14400" y="219456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1440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2249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1</a:t>
            </a:r>
            <a:endParaRPr lang="en-US" sz="11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Быстрые фронтенд-фичи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Буфер слов, плеер, блоки дашборда — только localStorage/JS, бэкенд не трогаем.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914400" y="4983480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ECEEF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14400" y="4983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дни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123944" y="374904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38912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DE1E7"/>
            </a:solidFill>
            <a:prstDash val="solid"/>
          </a:ln>
          <a:effectLst>
            <a:outerShdw sx="100000" sy="100000" kx="0" ky="0" algn="bl" rotWithShape="0" blurRad="76200" dist="25400" dir="5400000">
              <a:srgbClr val="1C2333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219456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66344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5257800" y="2249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2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Сервис аналитики</a:t>
            </a:r>
            <a:endParaRPr lang="en-US" sz="1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Один маленький read-only FastAPI-сервис поверх уже существующих данных.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663440" y="4983480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ECEEF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663440" y="4983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C23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1–2 дня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872984" y="3749040"/>
            <a:ext cx="210312" cy="0"/>
          </a:xfrm>
          <a:prstGeom prst="line">
            <a:avLst/>
          </a:prstGeom>
          <a:noFill/>
          <a:ln w="19050">
            <a:solidFill>
              <a:srgbClr val="6B7280"/>
            </a:solidFill>
            <a:prstDash val="solid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13816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1C2333"/>
          </a:solidFill>
          <a:ln/>
        </p:spPr>
      </p:sp>
      <p:sp>
        <p:nvSpPr>
          <p:cNvPr id="23" name="Shape 21"/>
          <p:cNvSpPr/>
          <p:nvPr/>
        </p:nvSpPr>
        <p:spPr>
          <a:xfrm>
            <a:off x="8412480" y="2194560"/>
            <a:ext cx="457200" cy="457200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12480" y="21945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 txBox="1"/>
          <p:nvPr/>
        </p:nvSpPr>
        <p:spPr>
          <a:xfrm>
            <a:off x="9006840" y="2249424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ЭТАП 3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412480" y="27889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Обсуждение будущего Prodigy</a:t>
            </a:r>
            <a:endParaRPr lang="en-US" sz="1900" dirty="0"/>
          </a:p>
        </p:txBody>
      </p:sp>
      <p:sp>
        <p:nvSpPr>
          <p:cNvPr id="27" name="Text 25"/>
          <p:cNvSpPr txBox="1"/>
          <p:nvPr/>
        </p:nvSpPr>
        <p:spPr>
          <a:xfrm>
            <a:off x="8412480" y="347472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C7CD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Постепенное замещение UI — отдельный разговор, не блокирует этапы 1–2.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412480" y="4983480"/>
            <a:ext cx="2880360" cy="365760"/>
          </a:xfrm>
          <a:prstGeom prst="roundRect">
            <a:avLst>
              <a:gd name="adj" fmla="val 20000"/>
            </a:avLst>
          </a:prstGeom>
          <a:solidFill>
            <a:srgbClr val="2D3540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412480" y="4983480"/>
            <a:ext cx="2880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опционально</a:t>
            </a:r>
            <a:endParaRPr lang="en-US" sz="1150" dirty="0"/>
          </a:p>
        </p:txBody>
      </p:sp>
      <p:sp>
        <p:nvSpPr>
          <p:cNvPr id="30" name="Text 28"/>
          <p:cNvSpPr txBox="1"/>
          <p:nvPr/>
        </p:nvSpPr>
        <p:spPr>
          <a:xfrm>
            <a:off x="502920" y="644652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C23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Kaspi </a:t>
            </a:r>
            <a:pPr indent="0" marL="0">
              <a:buNone/>
            </a:pPr>
            <a:r>
              <a:rPr lang="en-US" sz="1050" b="1" dirty="0">
                <a:solidFill>
                  <a:srgbClr val="F1463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Markup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C23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4114800"/>
            <a:ext cx="4114800" cy="4114800"/>
          </a:xfrm>
          <a:prstGeom prst="ellipse">
            <a:avLst/>
          </a:prstGeom>
          <a:solidFill>
            <a:srgbClr val="2D3540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822960" y="11887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F14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СЛЕДУЮЩИЕ ШАГИ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777240" y="155448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Готовы обсуждать детали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822960" y="2834640"/>
            <a:ext cx="402336" cy="40233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22960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27889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Прототип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31821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github.com/DamirKage/STT — index.html, открывается в браузере без установки.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822960" y="3749040"/>
            <a:ext cx="402336" cy="40233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22960" y="37490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37033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Техническая шпаргалка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1417320" y="40965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DEV_HANDOFF.md в том же репозитории — талкинг-пойнты по каждой фиче.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822960" y="4663440"/>
            <a:ext cx="402336" cy="402336"/>
          </a:xfrm>
          <a:prstGeom prst="ellipse">
            <a:avLst/>
          </a:prstGeom>
          <a:solidFill>
            <a:srgbClr val="F1463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22960" y="46634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1417320" y="4617720"/>
            <a:ext cx="8961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Черновой Prodigy-проект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5010912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95A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prodigy-project/ — recipes, static-хуки, дашборд-сервис. Готов к правкам вместе с вами.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822960" y="60350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Спасибо — обсудим на встрече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11551615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2026-09-02T05:40:21Z</dcterms:created>
  <dcterms:modified xsi:type="dcterms:W3CDTF">2026-09-02T05:40:21Z</dcterms:modified>
</cp:coreProperties>
</file>